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029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3709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64008" cy="64008"/>
          </a:xfrm>
          <a:prstGeom prst="ellipse">
            <a:avLst/>
          </a:prstGeom>
          <a:solidFill>
            <a:srgbClr val="5EA9FF"/>
          </a:solidFill>
          <a:ln/>
        </p:spPr>
      </p:sp>
      <p:sp>
        <p:nvSpPr>
          <p:cNvPr id="3" name="Shape 1"/>
          <p:cNvSpPr/>
          <p:nvPr/>
        </p:nvSpPr>
        <p:spPr>
          <a:xfrm>
            <a:off x="667512" y="502920"/>
            <a:ext cx="64008" cy="64008"/>
          </a:xfrm>
          <a:prstGeom prst="ellipse">
            <a:avLst/>
          </a:prstGeom>
          <a:solidFill>
            <a:srgbClr val="5EA9FF"/>
          </a:solidFill>
          <a:ln/>
        </p:spPr>
      </p:sp>
      <p:sp>
        <p:nvSpPr>
          <p:cNvPr id="4" name="Shape 2"/>
          <p:cNvSpPr/>
          <p:nvPr/>
        </p:nvSpPr>
        <p:spPr>
          <a:xfrm>
            <a:off x="786384" y="502920"/>
            <a:ext cx="64008" cy="6400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21792"/>
            <a:ext cx="64008" cy="64008"/>
          </a:xfrm>
          <a:prstGeom prst="ellipse">
            <a:avLst/>
          </a:prstGeom>
          <a:solidFill>
            <a:srgbClr val="5EA9FF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621792"/>
            <a:ext cx="64008" cy="6400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621792"/>
            <a:ext cx="64008" cy="64008"/>
          </a:xfrm>
          <a:prstGeom prst="ellipse">
            <a:avLst/>
          </a:prstGeom>
          <a:solidFill>
            <a:srgbClr val="5EA9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740664"/>
            <a:ext cx="64008" cy="6400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740664"/>
            <a:ext cx="64008" cy="64008"/>
          </a:xfrm>
          <a:prstGeom prst="ellipse">
            <a:avLst/>
          </a:prstGeom>
          <a:solidFill>
            <a:srgbClr val="5EA9FF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" y="740664"/>
            <a:ext cx="64008" cy="64008"/>
          </a:xfrm>
          <a:prstGeom prst="ellipse">
            <a:avLst/>
          </a:prstGeom>
          <a:solidFill>
            <a:srgbClr val="5EA9FF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5A66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TAILSCALE · SOLUTIONS ENGINEER MANAGER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105156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Reaching private resources shouldn't mean</a:t>
            </a:r>
            <a:endParaRPr lang="en-US" sz="3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 a door to the internet.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548640" y="25146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7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problem: a developer needs a private cloud dashboard and database. The legacy solutions all add risk and friction.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3520440" cy="2697480"/>
          </a:xfrm>
          <a:prstGeom prst="rect">
            <a:avLst/>
          </a:prstGeom>
          <a:solidFill>
            <a:srgbClr val="131A24"/>
          </a:solidFill>
          <a:ln w="12700">
            <a:solidFill>
              <a:srgbClr val="2A3343"/>
            </a:solidFill>
            <a:prstDash val="solid"/>
          </a:ln>
          <a:effectLst>
            <a:outerShdw blurRad="114300" dist="381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703320"/>
            <a:ext cx="566928" cy="56692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41248" y="43708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Exposed ports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841248" y="4864608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7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5432/443 to 0.0.0.0/0 invites scans and brute-force; one misconfig is a breach.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315968" y="3429000"/>
            <a:ext cx="3520440" cy="2697480"/>
          </a:xfrm>
          <a:prstGeom prst="rect">
            <a:avLst/>
          </a:prstGeom>
          <a:solidFill>
            <a:srgbClr val="131A24"/>
          </a:solidFill>
          <a:ln w="12700">
            <a:solidFill>
              <a:srgbClr val="2A3343"/>
            </a:solidFill>
            <a:prstDash val="solid"/>
          </a:ln>
          <a:effectLst>
            <a:outerShdw blurRad="114300" dist="381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576" y="3703320"/>
            <a:ext cx="566928" cy="56692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608576" y="43708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Bastion + SSH keys</a:t>
            </a:r>
            <a:endParaRPr lang="en-US" sz="1700" dirty="0"/>
          </a:p>
        </p:txBody>
      </p:sp>
      <p:sp>
        <p:nvSpPr>
          <p:cNvPr id="21" name="Text 17"/>
          <p:cNvSpPr/>
          <p:nvPr/>
        </p:nvSpPr>
        <p:spPr>
          <a:xfrm>
            <a:off x="4608576" y="4864608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7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jump host to patch, keys to rotate, and a fat target for lateral movement.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8083296" y="3429000"/>
            <a:ext cx="3520440" cy="2697480"/>
          </a:xfrm>
          <a:prstGeom prst="rect">
            <a:avLst/>
          </a:prstGeom>
          <a:solidFill>
            <a:srgbClr val="131A24"/>
          </a:solidFill>
          <a:ln w="12700">
            <a:solidFill>
              <a:srgbClr val="2A3343"/>
            </a:solidFill>
            <a:prstDash val="solid"/>
          </a:ln>
          <a:effectLst>
            <a:outerShdw blurRad="114300" dist="381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5904" y="3703320"/>
            <a:ext cx="566928" cy="56692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375904" y="43708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Classic VPN concentrator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8375904" y="4864608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7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 choke point: hair-pin latency, coarse network-wide access, single point of failure.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A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Tailscale way: identity is the key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joins one tailnet and gets a stable identity. A direct, end-to-end-encrypted WireGuard tunnel carries the data — peer-to-peer, never through Tailscale's servers.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6400800" cy="3383280"/>
          </a:xfrm>
          <a:prstGeom prst="rect">
            <a:avLst/>
          </a:prstGeom>
          <a:solidFill>
            <a:srgbClr val="ECF1F8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3035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rgbClr val="5A66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TAILNET · default-deny ACL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342900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36D399"/>
            </a:solidFill>
            <a:prstDash val="solid"/>
          </a:ln>
          <a:effectLst>
            <a:outerShdw blurRad="1143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23544" y="35387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ts-client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384962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6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tag:client · dev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507492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FF5D6C"/>
            </a:solidFill>
            <a:prstDash val="solid"/>
          </a:ln>
          <a:effectLst>
            <a:outerShdw blurRad="1143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23544" y="518464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ts-dev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3544" y="54955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5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tag:dev · attacker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60520" y="3291840"/>
            <a:ext cx="260604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5EA9FF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297680" y="33649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6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 namespace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0" y="3639312"/>
            <a:ext cx="233172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5EA9FF"/>
            </a:solidFill>
            <a:prstDash val="solid"/>
          </a:ln>
          <a:effectLst>
            <a:outerShdw blurRad="1143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43984" y="374904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ts-backend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43984" y="40599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EA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:80 + serve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97680" y="4480560"/>
            <a:ext cx="23317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blurRad="1143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443984" y="4590288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nginx dashboard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97680" y="5230368"/>
            <a:ext cx="23317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blurRad="1143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443984" y="534009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postgres :5432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606040" y="3858768"/>
            <a:ext cx="1554480" cy="182880"/>
          </a:xfrm>
          <a:prstGeom prst="line">
            <a:avLst/>
          </a:prstGeom>
          <a:noFill/>
          <a:ln w="31750">
            <a:solidFill>
              <a:srgbClr val="36D399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743200" y="35844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6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606040" y="5486400"/>
            <a:ext cx="1554480" cy="0"/>
          </a:xfrm>
          <a:prstGeom prst="line">
            <a:avLst/>
          </a:prstGeom>
          <a:noFill/>
          <a:ln w="31750">
            <a:solidFill>
              <a:srgbClr val="FF5D6C"/>
            </a:solidFill>
            <a:prstDash val="dash"/>
            <a:tailEnd type="none"/>
          </a:ln>
        </p:spPr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800600"/>
            <a:ext cx="310896" cy="310896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315200" y="13716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a packet flows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315200" y="1874520"/>
            <a:ext cx="566928" cy="566928"/>
          </a:xfrm>
          <a:prstGeom prst="ellipse">
            <a:avLst/>
          </a:prstGeom>
          <a:solidFill>
            <a:srgbClr val="E7EEF8"/>
          </a:solidFill>
          <a:ln/>
        </p:spPr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4072" y="1993392"/>
            <a:ext cx="329184" cy="329184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8046720" y="18562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MagicDNS resolves the name</a:t>
            </a:r>
            <a:endParaRPr lang="en-US" sz="1350" dirty="0"/>
          </a:p>
        </p:txBody>
      </p:sp>
      <p:sp>
        <p:nvSpPr>
          <p:cNvPr id="30" name="Text 26"/>
          <p:cNvSpPr/>
          <p:nvPr/>
        </p:nvSpPr>
        <p:spPr>
          <a:xfrm>
            <a:off x="8046720" y="216712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2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looks up backend.&lt;tailnet&gt;.ts.net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7315200" y="2953512"/>
            <a:ext cx="566928" cy="566928"/>
          </a:xfrm>
          <a:prstGeom prst="ellipse">
            <a:avLst/>
          </a:prstGeom>
          <a:solidFill>
            <a:srgbClr val="E7EEF8"/>
          </a:solidFill>
          <a:ln/>
        </p:spPr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4072" y="3072384"/>
            <a:ext cx="329184" cy="329184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8046720" y="293522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Direct WireGuard tunnel</a:t>
            </a:r>
            <a:endParaRPr lang="en-US" sz="1350" dirty="0"/>
          </a:p>
        </p:txBody>
      </p:sp>
      <p:sp>
        <p:nvSpPr>
          <p:cNvPr id="34" name="Text 29"/>
          <p:cNvSpPr/>
          <p:nvPr/>
        </p:nvSpPr>
        <p:spPr>
          <a:xfrm>
            <a:off x="8046720" y="32461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2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encrypted peer-to-peer; data never transits Tailscale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7315200" y="4032504"/>
            <a:ext cx="566928" cy="566928"/>
          </a:xfrm>
          <a:prstGeom prst="ellipse">
            <a:avLst/>
          </a:prstGeom>
          <a:solidFill>
            <a:srgbClr val="E7EEF8"/>
          </a:solidFill>
          <a:ln/>
        </p:spPr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072" y="4151376"/>
            <a:ext cx="329184" cy="329184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8046720" y="40142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ACL evaluated per-connection</a:t>
            </a:r>
            <a:endParaRPr lang="en-US" sz="1350" dirty="0"/>
          </a:p>
        </p:txBody>
      </p:sp>
      <p:sp>
        <p:nvSpPr>
          <p:cNvPr id="38" name="Text 32"/>
          <p:cNvSpPr/>
          <p:nvPr/>
        </p:nvSpPr>
        <p:spPr>
          <a:xfrm>
            <a:off x="8046720" y="432511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2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tag:client → backend on 80,443,5432; all else denied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7315200" y="5111496"/>
            <a:ext cx="566928" cy="566928"/>
          </a:xfrm>
          <a:prstGeom prst="ellipse">
            <a:avLst/>
          </a:prstGeom>
          <a:solidFill>
            <a:srgbClr val="E7EEF8"/>
          </a:solidFill>
          <a:ln/>
        </p:spPr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34072" y="5230368"/>
            <a:ext cx="329184" cy="32918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8046720" y="509320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Reaches the private service</a:t>
            </a:r>
            <a:endParaRPr lang="en-US" sz="1350" dirty="0"/>
          </a:p>
        </p:txBody>
      </p:sp>
      <p:sp>
        <p:nvSpPr>
          <p:cNvPr id="42" name="Text 35"/>
          <p:cNvSpPr/>
          <p:nvPr/>
        </p:nvSpPr>
        <p:spPr>
          <a:xfrm>
            <a:off x="8046720" y="540410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2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on the tailnet; optional HTTPS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A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 is identity-based — and provable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readable policy replaces brittle IP firewall rules. The whole security claim is demonstrable: the authorized developer gets in, any unauthorized node is denied by default.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669280" cy="4069080"/>
          </a:xfrm>
          <a:prstGeom prst="rect">
            <a:avLst/>
          </a:prstGeom>
          <a:solidFill>
            <a:srgbClr val="0B0E13"/>
          </a:solidFill>
          <a:ln w="12700">
            <a:solidFill>
              <a:srgbClr val="2A3343"/>
            </a:solidFill>
            <a:prstDash val="solid"/>
          </a:ln>
          <a:effectLst>
            <a:outerShdw blurRad="1143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212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6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policy.hujson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5212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97A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"acls": [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5A66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 // the developer — least privilege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"action": "accept",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36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"src": ["tag:client"],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5EA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"dst": ["tag:backend:80,443,5432"]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FF5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no rule for tag:dev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FF5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  → denied by default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97A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92240" y="20574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Validation evidence — make validate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92240" y="2487168"/>
            <a:ext cx="51663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FE9D6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544" y="2606040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040880" y="2542032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→ dashboard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9966960" y="2542032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E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200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92240" y="3090672"/>
            <a:ext cx="51663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FE9D6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544" y="3209544"/>
            <a:ext cx="274320" cy="2743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40880" y="3145536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→ postgres :5432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9966960" y="3145536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E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accepting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492240" y="3694176"/>
            <a:ext cx="51663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D2D7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3813048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040880" y="3749040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→ dashboard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9966960" y="374904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636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BLOCKED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492240" y="4297680"/>
            <a:ext cx="51663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D2D7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4416552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40880" y="4352544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→ postgres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9966960" y="435254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636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BLOCKED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92240" y="4901184"/>
            <a:ext cx="51663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FE9D6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544" y="5020056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040880" y="4956048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host ports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9966960" y="4956048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E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 exposed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492240" y="5504688"/>
            <a:ext cx="51663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FE9D6"/>
            </a:solidFill>
            <a:prstDash val="solid"/>
          </a:ln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544" y="5623560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7040880" y="5559552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client↔backend tunnel</a:t>
            </a:r>
            <a:endParaRPr lang="en-US" sz="1250" dirty="0"/>
          </a:p>
        </p:txBody>
      </p:sp>
      <p:sp>
        <p:nvSpPr>
          <p:cNvPr id="32" name="Text 24"/>
          <p:cNvSpPr/>
          <p:nvPr/>
        </p:nvSpPr>
        <p:spPr>
          <a:xfrm>
            <a:off x="9966960" y="5559552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E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 WireGuard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64008" cy="64008"/>
          </a:xfrm>
          <a:prstGeom prst="ellipse">
            <a:avLst/>
          </a:prstGeom>
          <a:solidFill>
            <a:srgbClr val="5EA9FF"/>
          </a:solidFill>
          <a:ln/>
        </p:spPr>
      </p:sp>
      <p:sp>
        <p:nvSpPr>
          <p:cNvPr id="3" name="Shape 1"/>
          <p:cNvSpPr/>
          <p:nvPr/>
        </p:nvSpPr>
        <p:spPr>
          <a:xfrm>
            <a:off x="667512" y="502920"/>
            <a:ext cx="64008" cy="64008"/>
          </a:xfrm>
          <a:prstGeom prst="ellipse">
            <a:avLst/>
          </a:prstGeom>
          <a:solidFill>
            <a:srgbClr val="5EA9FF"/>
          </a:solidFill>
          <a:ln/>
        </p:spPr>
      </p:sp>
      <p:sp>
        <p:nvSpPr>
          <p:cNvPr id="4" name="Shape 2"/>
          <p:cNvSpPr/>
          <p:nvPr/>
        </p:nvSpPr>
        <p:spPr>
          <a:xfrm>
            <a:off x="786384" y="502920"/>
            <a:ext cx="64008" cy="6400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21792"/>
            <a:ext cx="64008" cy="64008"/>
          </a:xfrm>
          <a:prstGeom prst="ellipse">
            <a:avLst/>
          </a:prstGeom>
          <a:solidFill>
            <a:srgbClr val="5EA9FF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621792"/>
            <a:ext cx="64008" cy="6400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621792"/>
            <a:ext cx="64008" cy="64008"/>
          </a:xfrm>
          <a:prstGeom prst="ellipse">
            <a:avLst/>
          </a:prstGeom>
          <a:solidFill>
            <a:srgbClr val="5EA9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740664"/>
            <a:ext cx="64008" cy="64008"/>
          </a:xfrm>
          <a:prstGeom prst="ellipse">
            <a:avLst/>
          </a:prstGeom>
          <a:solidFill>
            <a:srgbClr val="7C5CFF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740664"/>
            <a:ext cx="64008" cy="64008"/>
          </a:xfrm>
          <a:prstGeom prst="ellipse">
            <a:avLst/>
          </a:prstGeom>
          <a:solidFill>
            <a:srgbClr val="5EA9FF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" y="740664"/>
            <a:ext cx="64008" cy="64008"/>
          </a:xfrm>
          <a:prstGeom prst="ellipse">
            <a:avLst/>
          </a:prstGeom>
          <a:solidFill>
            <a:srgbClr val="5EA9FF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5A66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VALUE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Stronger security, faster developers, less to operate.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48640" y="1874520"/>
            <a:ext cx="3520440" cy="2423160"/>
          </a:xfrm>
          <a:prstGeom prst="rect">
            <a:avLst/>
          </a:prstGeom>
          <a:solidFill>
            <a:srgbClr val="131A24"/>
          </a:solidFill>
          <a:ln w="12700">
            <a:solidFill>
              <a:srgbClr val="2A3343"/>
            </a:solidFill>
            <a:prstDash val="solid"/>
          </a:ln>
          <a:effectLst>
            <a:outerShdw blurRad="1143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" y="2121408"/>
            <a:ext cx="603504" cy="603504"/>
          </a:xfrm>
          <a:prstGeom prst="ellipse">
            <a:avLst/>
          </a:prstGeom>
          <a:solidFill>
            <a:srgbClr val="0E1B2A"/>
          </a:solidFill>
          <a:ln/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2249424"/>
            <a:ext cx="347472" cy="347472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22960" y="28529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posture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822960" y="32918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7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attack surface. Identity + tag rules instead of error-prone IP lists. 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315968" y="1874520"/>
            <a:ext cx="3520440" cy="2423160"/>
          </a:xfrm>
          <a:prstGeom prst="rect">
            <a:avLst/>
          </a:prstGeom>
          <a:solidFill>
            <a:srgbClr val="131A24"/>
          </a:solidFill>
          <a:ln w="12700">
            <a:solidFill>
              <a:srgbClr val="2A3343"/>
            </a:solidFill>
            <a:prstDash val="solid"/>
          </a:ln>
          <a:effectLst>
            <a:outerShdw blurRad="1143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90288" y="2121408"/>
            <a:ext cx="603504" cy="603504"/>
          </a:xfrm>
          <a:prstGeom prst="ellipse">
            <a:avLst/>
          </a:prstGeom>
          <a:solidFill>
            <a:srgbClr val="0E1B2A"/>
          </a:solidFill>
          <a:ln/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304" y="2249424"/>
            <a:ext cx="347472" cy="34747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90288" y="28529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 velocity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4590288" y="32918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7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in minutes.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8083296" y="1874520"/>
            <a:ext cx="3520440" cy="2423160"/>
          </a:xfrm>
          <a:prstGeom prst="rect">
            <a:avLst/>
          </a:prstGeom>
          <a:solidFill>
            <a:srgbClr val="131A24"/>
          </a:solidFill>
          <a:ln w="12700">
            <a:solidFill>
              <a:srgbClr val="2A3343"/>
            </a:solidFill>
            <a:prstDash val="solid"/>
          </a:ln>
          <a:effectLst>
            <a:outerShdw blurRad="1143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357616" y="2121408"/>
            <a:ext cx="603504" cy="603504"/>
          </a:xfrm>
          <a:prstGeom prst="ellipse">
            <a:avLst/>
          </a:prstGeom>
          <a:solidFill>
            <a:srgbClr val="0E1B2A"/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2249424"/>
            <a:ext cx="347472" cy="347472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357616" y="28529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 to operate</a:t>
            </a:r>
            <a:endParaRPr lang="en-US" sz="1700" dirty="0"/>
          </a:p>
        </p:txBody>
      </p:sp>
      <p:sp>
        <p:nvSpPr>
          <p:cNvPr id="27" name="Text 22"/>
          <p:cNvSpPr/>
          <p:nvPr/>
        </p:nvSpPr>
        <p:spPr>
          <a:xfrm>
            <a:off x="8357616" y="32918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7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bastion to patch, no concentrator to scale, no key rotation. The mesh is the infrastructure.</a:t>
            </a:r>
            <a:endParaRPr lang="en-US" sz="1250" dirty="0"/>
          </a:p>
        </p:txBody>
      </p:sp>
      <p:sp>
        <p:nvSpPr>
          <p:cNvPr id="31" name="Shape 26"/>
          <p:cNvSpPr/>
          <p:nvPr/>
        </p:nvSpPr>
        <p:spPr>
          <a:xfrm>
            <a:off x="4151376" y="4709160"/>
            <a:ext cx="3931920" cy="1554480"/>
          </a:xfrm>
          <a:prstGeom prst="rect">
            <a:avLst/>
          </a:prstGeom>
          <a:solidFill>
            <a:srgbClr val="5EA9FF"/>
          </a:solidFill>
          <a:ln/>
        </p:spPr>
      </p:sp>
      <p:sp>
        <p:nvSpPr>
          <p:cNvPr id="32" name="Text 27"/>
          <p:cNvSpPr/>
          <p:nvPr/>
        </p:nvSpPr>
        <p:spPr>
          <a:xfrm>
            <a:off x="4357116" y="4846320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i="1" dirty="0">
                <a:solidFill>
                  <a:srgbClr val="0812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“The service stops having a public door. Identity decides who gets in — and you can prove the attacker is locked out.”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446</Words>
  <Application>Microsoft Macintosh PowerPoint</Application>
  <PresentationFormat>Widescreen</PresentationFormat>
  <Paragraphs>72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Secure Remote Developer — Tailscale</dc:title>
  <dc:subject/>
  <dc:creator>Marc Matthews</dc:creator>
  <cp:keywords/>
  <dc:description/>
  <cp:lastModifiedBy>Microsoft Office User</cp:lastModifiedBy>
  <cp:revision>6</cp:revision>
  <dcterms:created xsi:type="dcterms:W3CDTF">2026-05-29T00:24:41Z</dcterms:created>
  <dcterms:modified xsi:type="dcterms:W3CDTF">2026-05-31T21:34:57Z</dcterms:modified>
  <cp:category/>
</cp:coreProperties>
</file>