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57" r:id="rId4"/>
    <p:sldId id="258" r:id="rId5"/>
    <p:sldId id="263" r:id="rId6"/>
    <p:sldId id="264" r:id="rId7"/>
    <p:sldId id="265" r:id="rId8"/>
    <p:sldId id="269" r:id="rId9"/>
    <p:sldId id="271" r:id="rId10"/>
    <p:sldId id="270" r:id="rId11"/>
    <p:sldId id="272" r:id="rId12"/>
    <p:sldId id="259" r:id="rId13"/>
    <p:sldId id="27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37"/>
    <p:restoredTop sz="97062"/>
  </p:normalViewPr>
  <p:slideViewPr>
    <p:cSldViewPr snapToGrid="0" snapToObjects="1">
      <p:cViewPr varScale="1">
        <p:scale>
          <a:sx n="158" d="100"/>
          <a:sy n="158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8" d="100"/>
        <a:sy n="14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70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ailscale.com/blog/how-tailscale-works#encrypted-tcp-relays-derp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tailscale.com/docs/features/peer-relay" TargetMode="External"/><Relationship Id="rId5" Type="http://schemas.openxmlformats.org/officeDocument/2006/relationships/hyperlink" Target="https://tailscale.com/docs/reference/device-connectivity" TargetMode="External"/><Relationship Id="rId4" Type="http://schemas.openxmlformats.org/officeDocument/2006/relationships/hyperlink" Target="https://tailscale.com/blog/how-nat-traversal-works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Clr>
                <a:schemeClr val="bg1"/>
              </a:buClr>
              <a:buFont typeface="Wingdings" pitchFamily="2" charset="2"/>
              <a:buChar char="§"/>
            </a:pPr>
            <a:endParaRPr lang="en-US" sz="1200" dirty="0">
              <a:solidFill>
                <a:srgbClr val="97A3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Clr>
                <a:schemeClr val="bg1"/>
              </a:buClr>
              <a:buFont typeface="Wingdings" pitchFamily="2" charset="2"/>
              <a:buChar char="§"/>
            </a:pPr>
            <a:endParaRPr lang="en-US" sz="1200" dirty="0">
              <a:solidFill>
                <a:srgbClr val="97A3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reached out to me on LinkedIn to ask if I was interested in hearing about this job.</a:t>
            </a:r>
          </a:p>
          <a:p>
            <a:pPr marL="342900" indent="-3429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seemed ”real” so I replied and told him I knew of </a:t>
            </a:r>
            <a:r>
              <a:rPr lang="en-US" sz="1200" dirty="0" err="1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</a:t>
            </a: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I use in my </a:t>
            </a:r>
            <a:r>
              <a:rPr lang="en-US" sz="1200" dirty="0" err="1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homelab</a:t>
            </a: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a good chat where he explained the exciting growth going 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started using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Tailscale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couple of years ago in my home for what I am guessing is a typical residential/consumer use case: to access videos.  My daughter just graduated from high school and I have 18 years of video which total several terabytes of files.  Sure I can use public clouds for data files or photos, but video literally eats storage and of course cloud providers charge for storing and in some cases the transit to/from those files in the cloud.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can also VPN from any device back to my home and then access the Internet from my home internet provider, which means I won’t have to tell my video provider than I am traveling AND I can access all restricted US content when traveling out of the country.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use case is for anyone in my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TailNet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be able to print to my printers in my home.  Great for having a hardcopy ready when I get home.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final use case is to connect two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geographicly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separated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together to sync or really just backup my primary NAS. I don’t do ALL files, just the important irreparable ones like videos of my daughter since birth.</a:t>
            </a:r>
            <a:endParaRPr lang="en-US" sz="1200" dirty="0">
              <a:solidFill>
                <a:srgbClr val="97A3B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my HR screening with Kelly, she sent me the Exercise.</a:t>
            </a:r>
          </a:p>
          <a:p>
            <a:pPr marL="342900" indent="-342900"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original had suggested that I just show my own </a:t>
            </a:r>
            <a:r>
              <a:rPr lang="en-US" sz="1200" dirty="0" err="1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Tailnet</a:t>
            </a:r>
            <a:r>
              <a:rPr lang="en-US" sz="12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after review of the exercise requirements, I pivoted away from explaining my own personal use and into what I see is a pretty common enterprise use-case: how to allow secure access to a developer.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F932-99A3-074C-CF70-A5FC7CB9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ECB3A-424F-1B03-90C7-9236C31A5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CF490-DBB5-8373-AE3C-05A42CEE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 Forwarding is bad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problem with port forwarding is that it doesn’t scale.  What if you get a new server or app, then you’ve got to go configure that on your firewall.  What if you’re constantly spinning up apps or more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disasterly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what happens when that device goes away and you still have a hole in your firewall.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082D5-C2FA-7795-39F4-3DEDE92A4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31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DERP (Designated Encrypted Relay for Packets) servers</a:t>
            </a:r>
            <a:r>
              <a:rPr lang="en-US" dirty="0"/>
              <a:t> manage device connections and </a:t>
            </a:r>
            <a:r>
              <a:rPr lang="en-US" dirty="0">
                <a:hlinkClick r:id="rId4"/>
              </a:rPr>
              <a:t>NAT traversal</a:t>
            </a:r>
            <a:r>
              <a:rPr lang="en-US" dirty="0"/>
              <a:t>. They serve two primary purposes:</a:t>
            </a:r>
          </a:p>
          <a:p>
            <a:r>
              <a:rPr lang="en-US" dirty="0"/>
              <a:t>Negotiating and establishing connections between </a:t>
            </a:r>
            <a:r>
              <a:rPr lang="en-US" dirty="0" err="1"/>
              <a:t>tailnet</a:t>
            </a:r>
            <a:r>
              <a:rPr lang="en-US" dirty="0"/>
              <a:t> devices (direct or relayed).</a:t>
            </a:r>
          </a:p>
          <a:p>
            <a:r>
              <a:rPr lang="en-US" dirty="0"/>
              <a:t>Serving as a fallback option </a:t>
            </a:r>
            <a:r>
              <a:rPr lang="en-US" dirty="0">
                <a:hlinkClick r:id="rId5"/>
              </a:rPr>
              <a:t>when a direct connection isn't possible</a:t>
            </a:r>
            <a:r>
              <a:rPr lang="en-US" dirty="0"/>
              <a:t> and a </a:t>
            </a:r>
            <a:r>
              <a:rPr lang="en-US" dirty="0">
                <a:hlinkClick r:id="rId6"/>
              </a:rPr>
              <a:t>peer relay server</a:t>
            </a:r>
            <a:r>
              <a:rPr lang="en-US" dirty="0"/>
              <a:t> isn't available.</a:t>
            </a:r>
          </a:p>
          <a:p>
            <a:r>
              <a:rPr lang="en-US" dirty="0"/>
              <a:t>Most connections between </a:t>
            </a:r>
            <a:r>
              <a:rPr lang="en-US" dirty="0" err="1"/>
              <a:t>tailnet</a:t>
            </a:r>
            <a:r>
              <a:rPr lang="en-US" dirty="0"/>
              <a:t> devices only use DERP servers to establish a direct connection to another </a:t>
            </a:r>
            <a:r>
              <a:rPr lang="en-US" dirty="0" err="1"/>
              <a:t>tailnet</a:t>
            </a:r>
            <a:r>
              <a:rPr lang="en-US" dirty="0"/>
              <a:t> device. But as a last resort, when other connection types aren't possible due to hard NAT, firewalls, or another reason, devices can communicate using a DERP server as a relay.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beats IP rules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the service stops having a public door — identity decides who gets in, the path is encrypted by default, and the denial is provable.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45BD-DFF9-6563-34EF-EA99C150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6D523-FF99-229C-E145-2BFED5301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B2A25-790D-C7C5-B399-E9FFBC671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56061-ABDA-D4E5-2093-FC5326539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" y="502920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621792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740664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05156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 Matthews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3300" cap="small" dirty="0">
                <a:solidFill>
                  <a:schemeClr val="bg1"/>
                </a:solidFill>
              </a:rPr>
              <a:t>Solutions engineering manager </a:t>
            </a:r>
            <a:r>
              <a:rPr lang="en-US" sz="3000" dirty="0">
                <a:solidFill>
                  <a:schemeClr val="bg1"/>
                </a:solidFill>
              </a:rPr>
              <a:t>(Candidate)</a:t>
            </a:r>
          </a:p>
        </p:txBody>
      </p:sp>
      <p:sp>
        <p:nvSpPr>
          <p:cNvPr id="13" name="Text 11"/>
          <p:cNvSpPr/>
          <p:nvPr/>
        </p:nvSpPr>
        <p:spPr>
          <a:xfrm>
            <a:off x="548639" y="3359426"/>
            <a:ext cx="10752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Interview Exercise – Build a small </a:t>
            </a:r>
            <a:r>
              <a:rPr lang="en-US" sz="2000" dirty="0" err="1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Tailnet</a:t>
            </a:r>
            <a:r>
              <a:rPr lang="en-US" sz="20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 and explain it</a:t>
            </a:r>
            <a:endParaRPr lang="en-US" sz="20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B9E275E-CAC5-FF44-0F35-4D0B749C8980}"/>
              </a:ext>
            </a:extLst>
          </p:cNvPr>
          <p:cNvSpPr/>
          <p:nvPr/>
        </p:nvSpPr>
        <p:spPr>
          <a:xfrm>
            <a:off x="548638" y="3775986"/>
            <a:ext cx="10752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Role Play </a:t>
            </a:r>
            <a:r>
              <a:rPr lang="en-US" sz="3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</a:t>
            </a:r>
            <a:endParaRPr lang="en-US" sz="3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82540-0C7F-58B5-6B33-513B8DB8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C61683-42C1-0C49-A197-1489CEF38400}"/>
              </a:ext>
            </a:extLst>
          </p:cNvPr>
          <p:cNvSpPr/>
          <p:nvPr/>
        </p:nvSpPr>
        <p:spPr>
          <a:xfrm>
            <a:off x="548640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341942-7D1D-4694-073E-AB550D8C67FF}"/>
              </a:ext>
            </a:extLst>
          </p:cNvPr>
          <p:cNvSpPr/>
          <p:nvPr/>
        </p:nvSpPr>
        <p:spPr>
          <a:xfrm>
            <a:off x="667512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A911B8-A9EF-3942-47C4-DABAF1C0A136}"/>
              </a:ext>
            </a:extLst>
          </p:cNvPr>
          <p:cNvSpPr/>
          <p:nvPr/>
        </p:nvSpPr>
        <p:spPr>
          <a:xfrm>
            <a:off x="786384" y="502920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022F67-8A45-A3CC-4DA1-FE3A87A8A911}"/>
              </a:ext>
            </a:extLst>
          </p:cNvPr>
          <p:cNvSpPr/>
          <p:nvPr/>
        </p:nvSpPr>
        <p:spPr>
          <a:xfrm>
            <a:off x="548640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772D41-D7A7-12C5-89ED-613FD58F6ADC}"/>
              </a:ext>
            </a:extLst>
          </p:cNvPr>
          <p:cNvSpPr/>
          <p:nvPr/>
        </p:nvSpPr>
        <p:spPr>
          <a:xfrm>
            <a:off x="667512" y="621792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5A6EC90-1A20-BDCD-42E0-1EC280A29A57}"/>
              </a:ext>
            </a:extLst>
          </p:cNvPr>
          <p:cNvSpPr/>
          <p:nvPr/>
        </p:nvSpPr>
        <p:spPr>
          <a:xfrm>
            <a:off x="786384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8A7233-1DBA-153D-2048-755F02EEC67B}"/>
              </a:ext>
            </a:extLst>
          </p:cNvPr>
          <p:cNvSpPr/>
          <p:nvPr/>
        </p:nvSpPr>
        <p:spPr>
          <a:xfrm>
            <a:off x="548640" y="740664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E0C6B43-1DFA-935B-A657-78F1F1E46238}"/>
              </a:ext>
            </a:extLst>
          </p:cNvPr>
          <p:cNvSpPr/>
          <p:nvPr/>
        </p:nvSpPr>
        <p:spPr>
          <a:xfrm>
            <a:off x="667512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28284F0-9299-1748-C092-8C205D7F2AA6}"/>
              </a:ext>
            </a:extLst>
          </p:cNvPr>
          <p:cNvSpPr/>
          <p:nvPr/>
        </p:nvSpPr>
        <p:spPr>
          <a:xfrm>
            <a:off x="786384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DE41489-2FA2-3268-0E1A-BEDBC79723E5}"/>
              </a:ext>
            </a:extLst>
          </p:cNvPr>
          <p:cNvSpPr/>
          <p:nvPr/>
        </p:nvSpPr>
        <p:spPr>
          <a:xfrm>
            <a:off x="1056640" y="196596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Reaching private resources shouldn't mean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opening a door to the internet.</a:t>
            </a:r>
            <a:endParaRPr lang="en-US" sz="3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D29C27-2E5A-08D0-14EC-0F43689E6C33}"/>
              </a:ext>
            </a:extLst>
          </p:cNvPr>
          <p:cNvSpPr/>
          <p:nvPr/>
        </p:nvSpPr>
        <p:spPr>
          <a:xfrm>
            <a:off x="548640" y="173736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problem: a developer needs access to private cloud dashboard and database.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0D28D8-9C5D-8E5E-0135-9ACDFEC1E919}"/>
              </a:ext>
            </a:extLst>
          </p:cNvPr>
          <p:cNvGrpSpPr/>
          <p:nvPr/>
        </p:nvGrpSpPr>
        <p:grpSpPr>
          <a:xfrm>
            <a:off x="548640" y="3429000"/>
            <a:ext cx="3520440" cy="2697480"/>
            <a:chOff x="548640" y="3429000"/>
            <a:chExt cx="3520440" cy="2697480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CB6A1098-9183-6D3C-438F-24E5FAD673D9}"/>
                </a:ext>
              </a:extLst>
            </p:cNvPr>
            <p:cNvSpPr/>
            <p:nvPr/>
          </p:nvSpPr>
          <p:spPr>
            <a:xfrm>
              <a:off x="548640" y="3429000"/>
              <a:ext cx="3520440" cy="2697480"/>
            </a:xfrm>
            <a:prstGeom prst="rect">
              <a:avLst/>
            </a:prstGeom>
            <a:solidFill>
              <a:srgbClr val="131A24"/>
            </a:solidFill>
            <a:ln w="12700">
              <a:solidFill>
                <a:srgbClr val="2A3343"/>
              </a:solidFill>
              <a:prstDash val="solid"/>
            </a:ln>
            <a:effectLst>
              <a:outerShdw blurRad="114300" dist="38100" dir="8100000" algn="bl" rotWithShape="0">
                <a:srgbClr val="000000">
                  <a:alpha val="18000"/>
                </a:srgbClr>
              </a:outerShdw>
            </a:effectLst>
          </p:spPr>
        </p:sp>
        <p:pic>
          <p:nvPicPr>
            <p:cNvPr id="15" name="Image 0" descr="preencoded.png">
              <a:extLst>
                <a:ext uri="{FF2B5EF4-FFF2-40B4-BE49-F238E27FC236}">
                  <a16:creationId xmlns:a16="http://schemas.microsoft.com/office/drawing/2014/main" id="{59C957C8-2B5E-52B5-741E-F03FD0B53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248" y="3703320"/>
              <a:ext cx="566928" cy="566928"/>
            </a:xfrm>
            <a:prstGeom prst="rect">
              <a:avLst/>
            </a:prstGeom>
          </p:spPr>
        </p:pic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65758CE3-D2C5-2F00-4607-1AACF18DF452}"/>
                </a:ext>
              </a:extLst>
            </p:cNvPr>
            <p:cNvSpPr/>
            <p:nvPr/>
          </p:nvSpPr>
          <p:spPr>
            <a:xfrm>
              <a:off x="841248" y="437083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Exposed ports</a:t>
              </a:r>
              <a:endParaRPr lang="en-US" sz="1700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09397506-844A-5297-D414-2962B290A002}"/>
                </a:ext>
              </a:extLst>
            </p:cNvPr>
            <p:cNvSpPr/>
            <p:nvPr/>
          </p:nvSpPr>
          <p:spPr>
            <a:xfrm>
              <a:off x="841248" y="4864608"/>
              <a:ext cx="29718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97A3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Opening 5432/443 to 0.0.0.0/0 invites scans and brute-force; one misconfig is a breach.</a:t>
              </a:r>
              <a:endParaRPr lang="en-US" sz="12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FCD8786-6D89-8484-9EAA-D83EFF63E659}"/>
              </a:ext>
            </a:extLst>
          </p:cNvPr>
          <p:cNvGrpSpPr/>
          <p:nvPr/>
        </p:nvGrpSpPr>
        <p:grpSpPr>
          <a:xfrm>
            <a:off x="4315968" y="3429000"/>
            <a:ext cx="3520440" cy="2697480"/>
            <a:chOff x="4315968" y="3429000"/>
            <a:chExt cx="3520440" cy="2697480"/>
          </a:xfrm>
        </p:grpSpPr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A39610E9-F1B3-6636-0DD7-00E4EE78DC52}"/>
                </a:ext>
              </a:extLst>
            </p:cNvPr>
            <p:cNvSpPr/>
            <p:nvPr/>
          </p:nvSpPr>
          <p:spPr>
            <a:xfrm>
              <a:off x="4315968" y="3429000"/>
              <a:ext cx="3520440" cy="2697480"/>
            </a:xfrm>
            <a:prstGeom prst="rect">
              <a:avLst/>
            </a:prstGeom>
            <a:solidFill>
              <a:srgbClr val="131A24"/>
            </a:solidFill>
            <a:ln w="12700">
              <a:solidFill>
                <a:srgbClr val="2A3343"/>
              </a:solidFill>
              <a:prstDash val="solid"/>
            </a:ln>
            <a:effectLst>
              <a:outerShdw blurRad="114300" dist="38100" dir="8100000" algn="bl" rotWithShape="0">
                <a:srgbClr val="000000">
                  <a:alpha val="18000"/>
                </a:srgbClr>
              </a:outerShdw>
            </a:effectLst>
          </p:spPr>
        </p:sp>
        <p:pic>
          <p:nvPicPr>
            <p:cNvPr id="19" name="Image 1" descr="preencoded.png">
              <a:extLst>
                <a:ext uri="{FF2B5EF4-FFF2-40B4-BE49-F238E27FC236}">
                  <a16:creationId xmlns:a16="http://schemas.microsoft.com/office/drawing/2014/main" id="{6EDB9EF8-F66D-BE92-080E-3981DEDFA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8576" y="3703320"/>
              <a:ext cx="566928" cy="566928"/>
            </a:xfrm>
            <a:prstGeom prst="rect">
              <a:avLst/>
            </a:prstGeom>
          </p:spPr>
        </p:pic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B601950A-DF22-93BA-3B47-7284C2592162}"/>
                </a:ext>
              </a:extLst>
            </p:cNvPr>
            <p:cNvSpPr/>
            <p:nvPr/>
          </p:nvSpPr>
          <p:spPr>
            <a:xfrm>
              <a:off x="4608576" y="437083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Bastion + SSH keys</a:t>
              </a:r>
              <a:endParaRPr lang="en-US" sz="1700" dirty="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FCE53067-231F-523D-8C9C-1C0EBCEDA74E}"/>
                </a:ext>
              </a:extLst>
            </p:cNvPr>
            <p:cNvSpPr/>
            <p:nvPr/>
          </p:nvSpPr>
          <p:spPr>
            <a:xfrm>
              <a:off x="4608576" y="4864608"/>
              <a:ext cx="29718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97A3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jump host to patch, keys to rotate, and a fat target for lateral movement.</a:t>
              </a:r>
              <a:endParaRPr lang="en-US" sz="12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5D9753-B304-2A57-2A89-0D0811899A48}"/>
              </a:ext>
            </a:extLst>
          </p:cNvPr>
          <p:cNvGrpSpPr/>
          <p:nvPr/>
        </p:nvGrpSpPr>
        <p:grpSpPr>
          <a:xfrm>
            <a:off x="8083296" y="3429000"/>
            <a:ext cx="3520440" cy="2697480"/>
            <a:chOff x="8083296" y="3429000"/>
            <a:chExt cx="3520440" cy="2697480"/>
          </a:xfrm>
        </p:grpSpPr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539967D8-0C91-3D2D-E038-66189EB939CD}"/>
                </a:ext>
              </a:extLst>
            </p:cNvPr>
            <p:cNvSpPr/>
            <p:nvPr/>
          </p:nvSpPr>
          <p:spPr>
            <a:xfrm>
              <a:off x="8083296" y="3429000"/>
              <a:ext cx="3520440" cy="2697480"/>
            </a:xfrm>
            <a:prstGeom prst="rect">
              <a:avLst/>
            </a:prstGeom>
            <a:solidFill>
              <a:srgbClr val="131A24"/>
            </a:solidFill>
            <a:ln w="12700">
              <a:solidFill>
                <a:srgbClr val="2A3343"/>
              </a:solidFill>
              <a:prstDash val="solid"/>
            </a:ln>
            <a:effectLst>
              <a:outerShdw blurRad="114300" dist="38100" dir="8100000" algn="bl" rotWithShape="0">
                <a:srgbClr val="000000">
                  <a:alpha val="18000"/>
                </a:srgbClr>
              </a:outerShdw>
            </a:effectLst>
          </p:spPr>
        </p:sp>
        <p:pic>
          <p:nvPicPr>
            <p:cNvPr id="23" name="Image 2" descr="preencoded.png">
              <a:extLst>
                <a:ext uri="{FF2B5EF4-FFF2-40B4-BE49-F238E27FC236}">
                  <a16:creationId xmlns:a16="http://schemas.microsoft.com/office/drawing/2014/main" id="{3FAE0241-FF96-71A7-90D7-9DBAED61F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75904" y="3703320"/>
              <a:ext cx="566928" cy="566928"/>
            </a:xfrm>
            <a:prstGeom prst="rect">
              <a:avLst/>
            </a:prstGeom>
          </p:spPr>
        </p:pic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D98F48C0-68E5-D5ED-0F6C-22A7E9A342BA}"/>
                </a:ext>
              </a:extLst>
            </p:cNvPr>
            <p:cNvSpPr/>
            <p:nvPr/>
          </p:nvSpPr>
          <p:spPr>
            <a:xfrm>
              <a:off x="8375904" y="437083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Classic VPN concentrator</a:t>
              </a:r>
              <a:endParaRPr lang="en-US" sz="1700" dirty="0"/>
            </a:p>
          </p:txBody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0816854D-5E5F-2FE4-7C81-479EF44FAA59}"/>
                </a:ext>
              </a:extLst>
            </p:cNvPr>
            <p:cNvSpPr/>
            <p:nvPr/>
          </p:nvSpPr>
          <p:spPr>
            <a:xfrm>
              <a:off x="8375904" y="4864608"/>
              <a:ext cx="29718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97A3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central choke point: hair-pin latency, coarse network-wide access, single point of failure.</a:t>
              </a:r>
              <a:endParaRPr lang="en-US" sz="1250" dirty="0"/>
            </a:p>
          </p:txBody>
        </p:sp>
      </p:grpSp>
      <p:sp>
        <p:nvSpPr>
          <p:cNvPr id="26" name="Text 11">
            <a:extLst>
              <a:ext uri="{FF2B5EF4-FFF2-40B4-BE49-F238E27FC236}">
                <a16:creationId xmlns:a16="http://schemas.microsoft.com/office/drawing/2014/main" id="{854FBB7D-049B-54BB-33B2-4A9B68AAE28F}"/>
              </a:ext>
            </a:extLst>
          </p:cNvPr>
          <p:cNvSpPr/>
          <p:nvPr/>
        </p:nvSpPr>
        <p:spPr>
          <a:xfrm>
            <a:off x="544068" y="2428451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solutions all add risk and friction.</a:t>
            </a:r>
            <a:endParaRPr lang="en-US" sz="2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05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Tailscale way: identity is the key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joins one </a:t>
            </a:r>
            <a:r>
              <a:rPr lang="en-US" sz="1400" dirty="0" err="1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Tailnet</a:t>
            </a:r>
            <a:r>
              <a:rPr lang="en-US" sz="14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gets a stable identity.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end-to-end-encrypted WireGuard tunnel carries the data — peer-to-peer, never through Tailscale's servers.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6400800" cy="3383280"/>
          </a:xfrm>
          <a:prstGeom prst="rect">
            <a:avLst/>
          </a:prstGeom>
          <a:solidFill>
            <a:srgbClr val="ECF1F8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TAILNET · default-deny ACL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342900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6D399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23544" y="35387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ts-client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3849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tag:client · dev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507492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5D6C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23544" y="5184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ts-dev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3544" y="5495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tag:dev · attacker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3291840"/>
            <a:ext cx="260604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EA9F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297680" y="3364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namespace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3639312"/>
            <a:ext cx="23317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5EA9FF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43984" y="3749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ts-backend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3984" y="40599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:80 + serve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4480560"/>
            <a:ext cx="2331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43984" y="45902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 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5230368"/>
            <a:ext cx="2331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43984" y="53400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 :5432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06040" y="3858768"/>
            <a:ext cx="1554480" cy="182880"/>
          </a:xfrm>
          <a:prstGeom prst="line">
            <a:avLst/>
          </a:prstGeom>
          <a:noFill/>
          <a:ln w="31750">
            <a:solidFill>
              <a:srgbClr val="36D39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743200" y="3584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5486400"/>
            <a:ext cx="1554480" cy="0"/>
          </a:xfrm>
          <a:prstGeom prst="line">
            <a:avLst/>
          </a:prstGeom>
          <a:noFill/>
          <a:ln w="31750">
            <a:solidFill>
              <a:srgbClr val="FF5D6C"/>
            </a:solidFill>
            <a:prstDash val="dash"/>
            <a:tailEnd type="none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800600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packet flows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315200" y="1874520"/>
            <a:ext cx="566928" cy="566928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993392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04672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MagicDNS resolves the name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8046720" y="2167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looks up backend.&lt;tailnet&gt;.ts.net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7315200" y="2953512"/>
            <a:ext cx="566928" cy="566928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3072384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046720" y="2935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Direct WireGuard tunnel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8046720" y="3246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 peer-to-peer; user data never transits Tailscale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7315200" y="4032504"/>
            <a:ext cx="566928" cy="566928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4151376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046720" y="40142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ACL evaluated per-connection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8046720" y="43251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tag:client → backend on 80,443,5432; all else denied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315200" y="5111496"/>
            <a:ext cx="566928" cy="566928"/>
          </a:xfrm>
          <a:prstGeom prst="ellipse">
            <a:avLst/>
          </a:prstGeom>
          <a:solidFill>
            <a:srgbClr val="E7EEF8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072" y="5230368"/>
            <a:ext cx="329184" cy="32918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046720" y="5093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Reaches the private service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8046720" y="54041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on the tailnet; optional HTTPS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is identity-based — and provable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readable policy replaces brittle IP firewall rules. The whole security claim is demonstrable: the authorized developer gets in, any unauthorized node is denied by default.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669280" cy="40690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policy.hujson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"acls": [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 // the developer — least privilege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"accept",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"src": ["tag:client"],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"dst": ["tag:backend:80,443,5432"]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5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rule for tag:dev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5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→ denied by default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evidence — make validate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487168"/>
            <a:ext cx="5166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6060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25420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dashboard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966960" y="254203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92240" y="3090672"/>
            <a:ext cx="5166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2095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31455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postgres :5432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966960" y="314553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92240" y="3694176"/>
            <a:ext cx="5166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2D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8130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37490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→ dashboard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966960" y="37490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92240" y="4297680"/>
            <a:ext cx="5166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2D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4165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43525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→ postgres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966960" y="435254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3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92240" y="4901184"/>
            <a:ext cx="5166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502005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0" y="4956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host ports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966960" y="49560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exposed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92240" y="5504688"/>
            <a:ext cx="5166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56235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40880" y="555955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client↔backend tunnel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9966960" y="55595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WireGuard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210" cy="83210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3" name="Shape 1"/>
          <p:cNvSpPr/>
          <p:nvPr/>
        </p:nvSpPr>
        <p:spPr>
          <a:xfrm>
            <a:off x="703174" y="502920"/>
            <a:ext cx="83210" cy="83210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4" name="Shape 2"/>
          <p:cNvSpPr/>
          <p:nvPr/>
        </p:nvSpPr>
        <p:spPr>
          <a:xfrm>
            <a:off x="857707" y="502920"/>
            <a:ext cx="83210" cy="8321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57454"/>
            <a:ext cx="83210" cy="83210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6" name="Shape 4"/>
          <p:cNvSpPr/>
          <p:nvPr/>
        </p:nvSpPr>
        <p:spPr>
          <a:xfrm>
            <a:off x="703174" y="657454"/>
            <a:ext cx="83210" cy="8321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Shape 5"/>
          <p:cNvSpPr/>
          <p:nvPr/>
        </p:nvSpPr>
        <p:spPr>
          <a:xfrm>
            <a:off x="857707" y="657454"/>
            <a:ext cx="83210" cy="83210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811987"/>
            <a:ext cx="83210" cy="8321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Shape 7"/>
          <p:cNvSpPr/>
          <p:nvPr/>
        </p:nvSpPr>
        <p:spPr>
          <a:xfrm>
            <a:off x="703174" y="811987"/>
            <a:ext cx="83210" cy="83210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" y="811987"/>
            <a:ext cx="83210" cy="83210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REFERENCE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Remote Developer over a Tailnet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traffic flow, access control, and the engineering decisions behind the demo.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2606040" cy="2103120"/>
          </a:xfrm>
          <a:prstGeom prst="rect">
            <a:avLst/>
          </a:prstGeom>
          <a:solidFill>
            <a:srgbClr val="131A24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39312"/>
            <a:ext cx="548640" cy="548640"/>
          </a:xfrm>
          <a:prstGeom prst="ellipse">
            <a:avLst/>
          </a:prstGeom>
          <a:solidFill>
            <a:srgbClr val="0E1B2A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758184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4672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04672" y="47365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nodes, 1 tailnet, isolated networks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37560" y="3383280"/>
            <a:ext cx="2606040" cy="2103120"/>
          </a:xfrm>
          <a:prstGeom prst="rect">
            <a:avLst/>
          </a:prstGeom>
          <a:solidFill>
            <a:srgbClr val="131A24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93592" y="3639312"/>
            <a:ext cx="548640" cy="548640"/>
          </a:xfrm>
          <a:prstGeom prst="ellipse">
            <a:avLst/>
          </a:prstGeom>
          <a:solidFill>
            <a:srgbClr val="0E1B2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3758184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93592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 flow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3593592" y="47365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userspace · serve · SOCKS5 · DERP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26480" y="3383280"/>
            <a:ext cx="2606040" cy="2103120"/>
          </a:xfrm>
          <a:prstGeom prst="rect">
            <a:avLst/>
          </a:prstGeom>
          <a:solidFill>
            <a:srgbClr val="131A24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82512" y="3639312"/>
            <a:ext cx="548640" cy="548640"/>
          </a:xfrm>
          <a:prstGeom prst="ellipse">
            <a:avLst/>
          </a:prstGeom>
          <a:solidFill>
            <a:srgbClr val="0E1B2A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3758184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82512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control</a:t>
            </a:r>
            <a:endParaRPr lang="en-US" sz="1550" dirty="0"/>
          </a:p>
        </p:txBody>
      </p:sp>
      <p:sp>
        <p:nvSpPr>
          <p:cNvPr id="28" name="Text 23"/>
          <p:cNvSpPr/>
          <p:nvPr/>
        </p:nvSpPr>
        <p:spPr>
          <a:xfrm>
            <a:off x="6382512" y="47365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+ default-deny ACL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915400" y="3383280"/>
            <a:ext cx="2606040" cy="2103120"/>
          </a:xfrm>
          <a:prstGeom prst="rect">
            <a:avLst/>
          </a:prstGeom>
          <a:solidFill>
            <a:srgbClr val="131A24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171432" y="3639312"/>
            <a:ext cx="548640" cy="548640"/>
          </a:xfrm>
          <a:prstGeom prst="ellipse">
            <a:avLst/>
          </a:prstGeom>
          <a:solidFill>
            <a:srgbClr val="0E1B2A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3758184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71432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Debugging story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9171432" y="47365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real failures, found &amp; fixed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nodes, one tailnet, fully isolated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sits on its own Docker network and runs </a:t>
            </a:r>
            <a:r>
              <a:rPr lang="en-US" sz="1350" dirty="0" err="1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</a:t>
            </a:r>
            <a:r>
              <a:rPr lang="en-US" sz="13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tag, so the only route between any two nodes is the </a:t>
            </a:r>
            <a:r>
              <a:rPr lang="en-US" sz="1350" dirty="0" err="1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tailnet</a:t>
            </a:r>
            <a:r>
              <a:rPr lang="en-US" sz="135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itself. 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90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6309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99232"/>
            <a:ext cx="54864" cy="493776"/>
          </a:xfrm>
          <a:prstGeom prst="rect">
            <a:avLst/>
          </a:prstGeom>
          <a:solidFill>
            <a:srgbClr val="5EA9F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99923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ts-backend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99923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tag:backend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69080" y="29992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+ Database 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6309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66160"/>
            <a:ext cx="54864" cy="493776"/>
          </a:xfrm>
          <a:prstGeom prst="rect">
            <a:avLst/>
          </a:prstGeom>
          <a:solidFill>
            <a:srgbClr val="36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5661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ts-client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5661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tag:client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69080" y="356616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developer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33088"/>
            <a:ext cx="6309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33088"/>
            <a:ext cx="54864" cy="493776"/>
          </a:xfrm>
          <a:prstGeom prst="rect">
            <a:avLst/>
          </a:prstGeom>
          <a:solidFill>
            <a:srgbClr val="FF5D6C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13308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ts-dev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413308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5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tag:dev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69080" y="41330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(attacker)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78040" y="1371600"/>
            <a:ext cx="4480560" cy="4754880"/>
          </a:xfrm>
          <a:prstGeom prst="rect">
            <a:avLst/>
          </a:prstGeom>
          <a:solidFill>
            <a:srgbClr val="ECF1F8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TAILNET · default-deny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1828800"/>
            <a:ext cx="18288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36D399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34656" y="1920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ts-client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34656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tag:client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3429000"/>
            <a:ext cx="18288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F5D6C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34656" y="3520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ts-dev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34656" y="38130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tag:dev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09760" y="2148840"/>
            <a:ext cx="19202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EA9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601200" y="22128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server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01200" y="2487168"/>
            <a:ext cx="173736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5EA9FF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729216" y="25786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ts-backend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729216" y="28712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 :80,:5432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601200" y="334670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29216" y="34381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 :80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601200" y="404164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729216" y="41330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 :5432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235440" y="2249424"/>
            <a:ext cx="365760" cy="457200"/>
          </a:xfrm>
          <a:prstGeom prst="line">
            <a:avLst/>
          </a:prstGeom>
          <a:noFill/>
          <a:ln w="31750">
            <a:solidFill>
              <a:srgbClr val="36D399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64108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235440" y="3840480"/>
            <a:ext cx="365760" cy="0"/>
          </a:xfrm>
          <a:prstGeom prst="line">
            <a:avLst/>
          </a:prstGeom>
          <a:noFill/>
          <a:ln w="31750">
            <a:solidFill>
              <a:srgbClr val="FF5D6C"/>
            </a:solidFill>
            <a:prstDash val="dash"/>
          </a:ln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3246120"/>
            <a:ext cx="274320" cy="27432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7406640" y="5760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isolated Docker networks → tailnet is the only path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request actually travels (userspace mode)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Docker compose there's no TUN device, so Tailscale runs in userspace mode. Application traffic can't route transparently — so the backend uses tailscale serve for ingress and clients use the built-in SOCKS5 proxy for egress. The ACL is evaluated on every connection.</a:t>
            </a:r>
            <a:endParaRPr lang="en-US" sz="13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4F0982-777C-8D3F-5962-50C23AE6959A}"/>
              </a:ext>
            </a:extLst>
          </p:cNvPr>
          <p:cNvGrpSpPr/>
          <p:nvPr/>
        </p:nvGrpSpPr>
        <p:grpSpPr>
          <a:xfrm>
            <a:off x="548640" y="2331720"/>
            <a:ext cx="11064240" cy="658368"/>
            <a:chOff x="548640" y="2331720"/>
            <a:chExt cx="11064240" cy="658368"/>
          </a:xfrm>
        </p:grpSpPr>
        <p:sp>
          <p:nvSpPr>
            <p:cNvPr id="5" name="Shape 3"/>
            <p:cNvSpPr/>
            <p:nvPr/>
          </p:nvSpPr>
          <p:spPr>
            <a:xfrm>
              <a:off x="548640" y="2331720"/>
              <a:ext cx="1106424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5EC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713232" y="2450592"/>
              <a:ext cx="420624" cy="420624"/>
            </a:xfrm>
            <a:prstGeom prst="ellipse">
              <a:avLst/>
            </a:prstGeom>
            <a:solidFill>
              <a:srgbClr val="EAF1FB"/>
            </a:solidFill>
            <a:ln/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672" y="2542032"/>
              <a:ext cx="237744" cy="237744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298448" y="2386584"/>
              <a:ext cx="2834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20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 · App → SOCKS5</a:t>
              </a:r>
              <a:endParaRPr lang="en-US" sz="14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206240" y="2386584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authorized developer's process connects to </a:t>
              </a:r>
              <a:r>
                <a:rPr lang="en-US" sz="1200" dirty="0" err="1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tailscaled</a:t>
              </a:r>
              <a:r>
                <a:rPr lang="en-US" sz="1200" dirty="0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local SOCKS5 proxy (127.0.0.1:1055).</a:t>
              </a:r>
              <a:endParaRPr lang="en-US" sz="12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9A7212-5CAA-A1AF-F50D-E3B63F1042AE}"/>
              </a:ext>
            </a:extLst>
          </p:cNvPr>
          <p:cNvGrpSpPr/>
          <p:nvPr/>
        </p:nvGrpSpPr>
        <p:grpSpPr>
          <a:xfrm>
            <a:off x="548640" y="3099816"/>
            <a:ext cx="11064240" cy="658368"/>
            <a:chOff x="548640" y="3099816"/>
            <a:chExt cx="11064240" cy="658368"/>
          </a:xfrm>
        </p:grpSpPr>
        <p:sp>
          <p:nvSpPr>
            <p:cNvPr id="10" name="Shape 7"/>
            <p:cNvSpPr/>
            <p:nvPr/>
          </p:nvSpPr>
          <p:spPr>
            <a:xfrm>
              <a:off x="548640" y="3099816"/>
              <a:ext cx="1106424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5EC"/>
              </a:solidFill>
              <a:prstDash val="solid"/>
            </a:ln>
          </p:spPr>
        </p:sp>
        <p:sp>
          <p:nvSpPr>
            <p:cNvPr id="11" name="Shape 8"/>
            <p:cNvSpPr/>
            <p:nvPr/>
          </p:nvSpPr>
          <p:spPr>
            <a:xfrm>
              <a:off x="713232" y="3218688"/>
              <a:ext cx="420624" cy="420624"/>
            </a:xfrm>
            <a:prstGeom prst="ellipse">
              <a:avLst/>
            </a:prstGeom>
            <a:solidFill>
              <a:srgbClr val="EAF1FB"/>
            </a:solidFill>
            <a:ln/>
          </p:spPr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672" y="3310128"/>
              <a:ext cx="237744" cy="237744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1298448" y="3154680"/>
              <a:ext cx="2834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20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 · Identity attached</a:t>
              </a:r>
              <a:endParaRPr lang="en-US" sz="14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4206240" y="3154680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tailscaled</a:t>
              </a:r>
              <a:r>
                <a:rPr lang="en-US" sz="1200" dirty="0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originates the tailnet connection as </a:t>
              </a:r>
              <a:r>
                <a:rPr lang="en-US" sz="1200" dirty="0" err="1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tag:client</a:t>
              </a:r>
              <a:r>
                <a:rPr lang="en-US" sz="1200" dirty="0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</a:p>
            <a:p>
              <a:pPr marL="0" indent="0">
                <a:buNone/>
              </a:pPr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59153A-56D4-BDBC-B5FA-21F06B3DD919}"/>
              </a:ext>
            </a:extLst>
          </p:cNvPr>
          <p:cNvGrpSpPr/>
          <p:nvPr/>
        </p:nvGrpSpPr>
        <p:grpSpPr>
          <a:xfrm>
            <a:off x="548640" y="3867912"/>
            <a:ext cx="11064240" cy="658368"/>
            <a:chOff x="548640" y="3867912"/>
            <a:chExt cx="11064240" cy="658368"/>
          </a:xfrm>
        </p:grpSpPr>
        <p:sp>
          <p:nvSpPr>
            <p:cNvPr id="15" name="Shape 11"/>
            <p:cNvSpPr/>
            <p:nvPr/>
          </p:nvSpPr>
          <p:spPr>
            <a:xfrm>
              <a:off x="548640" y="3867912"/>
              <a:ext cx="1106424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5EC"/>
              </a:solidFill>
              <a:prstDash val="solid"/>
            </a:ln>
          </p:spPr>
        </p:sp>
        <p:sp>
          <p:nvSpPr>
            <p:cNvPr id="16" name="Shape 12"/>
            <p:cNvSpPr/>
            <p:nvPr/>
          </p:nvSpPr>
          <p:spPr>
            <a:xfrm>
              <a:off x="713232" y="3986784"/>
              <a:ext cx="420624" cy="420624"/>
            </a:xfrm>
            <a:prstGeom prst="ellipse">
              <a:avLst/>
            </a:prstGeom>
            <a:solidFill>
              <a:srgbClr val="EAF1FB"/>
            </a:solidFill>
            <a:ln/>
          </p:spPr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4672" y="4078224"/>
              <a:ext cx="237744" cy="237744"/>
            </a:xfrm>
            <a:prstGeom prst="rect">
              <a:avLst/>
            </a:prstGeom>
          </p:spPr>
        </p:pic>
        <p:sp>
          <p:nvSpPr>
            <p:cNvPr id="18" name="Text 13"/>
            <p:cNvSpPr/>
            <p:nvPr/>
          </p:nvSpPr>
          <p:spPr>
            <a:xfrm>
              <a:off x="1298448" y="3922776"/>
              <a:ext cx="2834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20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 · WireGuard</a:t>
              </a:r>
              <a:endParaRPr lang="en-US" sz="140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4206240" y="3922776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Encrypted peer-to-peer link to the backend (direct, or via a DERP relay).</a:t>
              </a:r>
              <a:endParaRPr 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CAD7783-5DC3-7073-EED9-EF781263F8AB}"/>
              </a:ext>
            </a:extLst>
          </p:cNvPr>
          <p:cNvGrpSpPr/>
          <p:nvPr/>
        </p:nvGrpSpPr>
        <p:grpSpPr>
          <a:xfrm>
            <a:off x="548640" y="4636008"/>
            <a:ext cx="11064240" cy="658368"/>
            <a:chOff x="548640" y="4636008"/>
            <a:chExt cx="11064240" cy="658368"/>
          </a:xfrm>
        </p:grpSpPr>
        <p:sp>
          <p:nvSpPr>
            <p:cNvPr id="20" name="Shape 15"/>
            <p:cNvSpPr/>
            <p:nvPr/>
          </p:nvSpPr>
          <p:spPr>
            <a:xfrm>
              <a:off x="548640" y="4636008"/>
              <a:ext cx="1106424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5EC"/>
              </a:solidFill>
              <a:prstDash val="solid"/>
            </a:ln>
          </p:spPr>
        </p:sp>
        <p:sp>
          <p:nvSpPr>
            <p:cNvPr id="21" name="Shape 16"/>
            <p:cNvSpPr/>
            <p:nvPr/>
          </p:nvSpPr>
          <p:spPr>
            <a:xfrm>
              <a:off x="713232" y="4754880"/>
              <a:ext cx="420624" cy="420624"/>
            </a:xfrm>
            <a:prstGeom prst="ellipse">
              <a:avLst/>
            </a:prstGeom>
            <a:solidFill>
              <a:srgbClr val="EAF1FB"/>
            </a:solidFill>
            <a:ln/>
          </p:spPr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4672" y="4846320"/>
              <a:ext cx="237744" cy="237744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1298448" y="4690872"/>
              <a:ext cx="2834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20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 · ACL check</a:t>
              </a:r>
              <a:endParaRPr lang="en-US" sz="1400" dirty="0"/>
            </a:p>
          </p:txBody>
        </p:sp>
        <p:sp>
          <p:nvSpPr>
            <p:cNvPr id="24" name="Text 18"/>
            <p:cNvSpPr/>
            <p:nvPr/>
          </p:nvSpPr>
          <p:spPr>
            <a:xfrm>
              <a:off x="4206240" y="4690872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 evaluates: tag:client→tag:backend on 80/443/5432 = allow.</a:t>
              </a:r>
              <a:endParaRPr lang="en-US" sz="1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EE2B136-5BB8-8359-E45C-FCF2E1125DFD}"/>
              </a:ext>
            </a:extLst>
          </p:cNvPr>
          <p:cNvGrpSpPr/>
          <p:nvPr/>
        </p:nvGrpSpPr>
        <p:grpSpPr>
          <a:xfrm>
            <a:off x="548640" y="5404104"/>
            <a:ext cx="11064240" cy="658368"/>
            <a:chOff x="548640" y="5404104"/>
            <a:chExt cx="11064240" cy="658368"/>
          </a:xfrm>
        </p:grpSpPr>
        <p:sp>
          <p:nvSpPr>
            <p:cNvPr id="25" name="Shape 19"/>
            <p:cNvSpPr/>
            <p:nvPr/>
          </p:nvSpPr>
          <p:spPr>
            <a:xfrm>
              <a:off x="548640" y="5404104"/>
              <a:ext cx="1106424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0E5EC"/>
              </a:solidFill>
              <a:prstDash val="solid"/>
            </a:ln>
          </p:spPr>
        </p:sp>
        <p:sp>
          <p:nvSpPr>
            <p:cNvPr id="26" name="Shape 20"/>
            <p:cNvSpPr/>
            <p:nvPr/>
          </p:nvSpPr>
          <p:spPr>
            <a:xfrm>
              <a:off x="713232" y="5522976"/>
              <a:ext cx="420624" cy="420624"/>
            </a:xfrm>
            <a:prstGeom prst="ellipse">
              <a:avLst/>
            </a:prstGeom>
            <a:solidFill>
              <a:srgbClr val="EAF1FB"/>
            </a:solidFill>
            <a:ln/>
          </p:spPr>
        </p:sp>
        <p:pic>
          <p:nvPicPr>
            <p:cNvPr id="27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4672" y="5614416"/>
              <a:ext cx="237744" cy="237744"/>
            </a:xfrm>
            <a:prstGeom prst="rect">
              <a:avLst/>
            </a:prstGeom>
          </p:spPr>
        </p:pic>
        <p:sp>
          <p:nvSpPr>
            <p:cNvPr id="28" name="Text 21"/>
            <p:cNvSpPr/>
            <p:nvPr/>
          </p:nvSpPr>
          <p:spPr>
            <a:xfrm>
              <a:off x="1298448" y="5458968"/>
              <a:ext cx="2834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620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5 · serve → localhost</a:t>
              </a:r>
              <a:endParaRPr lang="en-US" sz="1400" dirty="0"/>
            </a:p>
          </p:txBody>
        </p:sp>
        <p:sp>
          <p:nvSpPr>
            <p:cNvPr id="29" name="Text 22"/>
            <p:cNvSpPr/>
            <p:nvPr/>
          </p:nvSpPr>
          <p:spPr>
            <a:xfrm>
              <a:off x="4206240" y="5458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450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tailscale serve proxies the accepted connection to nginx :80 or postgres :5432 on localhost.</a:t>
              </a:r>
              <a:endParaRPr lang="en-US" sz="1200" dirty="0"/>
            </a:p>
          </p:txBody>
        </p:sp>
      </p:grpSp>
      <p:sp>
        <p:nvSpPr>
          <p:cNvPr id="30" name="Text 2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point for customers: data traffic is peer-to-peer and end-to-end encrypted — it does not flow through Tailscale's servers. The coordination plane only exchanges keys and routes.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Identity-based ACLs — the policy explained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3703320"/>
          </a:xfrm>
          <a:prstGeom prst="rect">
            <a:avLst/>
          </a:prstGeom>
          <a:solidFill>
            <a:srgbClr val="0A0E15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04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policy.hujson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18288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"tagOwners": 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who may ADVERTISE each tag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"tag:backend": ["autogroup:admin"],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"tag:client":  ["autogroup:admin"],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"tag:dev":     ["autogroup:admin"],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"acls": [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 // the ONLY allow rule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"accept",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"src": ["tag:client"],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"dst": ["tag:backend:80,443,5432"]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5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tag:dev rule → denied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389888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9047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67728" y="1371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tagOwners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67728" y="166420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tags exist and that the admin may assign them. Without this, nodes can't advertise their tag — registration fails.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2340864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4414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67728" y="23225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Default-deny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967728" y="261518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any acls rule exists, anything not explicitly allowed is denied. The starter '*→*' rule must be removed.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55080" y="3291840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33924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3273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deny is structural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67728" y="35661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tag:dev has no rule, so it's denied by absence.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4242816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434340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67728" y="4224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beats IP rules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967728" y="451713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survives IP changes, scales by tag not by host, and is readable in one screen — far less human error.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SSH is also gated here: admin-only, identity-based, no keys to manage, every session logged.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solution is proven — six checks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`./scripts/doctor.sh` runs diagnostics, then six checks, and exits non-zero if any failure occurs.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68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developer →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2624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200 via serve, through SOCKS5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224028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4688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3912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developer → postgres :5432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739128" y="2624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reachable over the tailnet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2D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3756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182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attacker → dashboard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15568" y="3493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 — no ACL rule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72200" y="310896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2D7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3375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39128" y="3182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attacker → postgres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39128" y="3493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 — no ACL rule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97764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20624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15568" y="4050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public host ports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15568" y="4361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exposed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172200" y="397764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E9D6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420624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39128" y="4050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client↔backend link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739128" y="4361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 WireGuard (direct/DERP)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0" name="Text 22"/>
          <p:cNvSpPr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A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on a healthy run:  </a:t>
            </a:r>
            <a:r>
              <a:rPr lang="en-US" sz="1400" b="1" dirty="0">
                <a:solidFill>
                  <a:srgbClr val="36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Passed: 6   Failed: 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F2B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DEBUGGING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551176" y="6217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a “few” more issues – both nothing related to </a:t>
            </a:r>
            <a:r>
              <a:rPr lang="en-US" b="1" dirty="0" err="1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Tailscale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31844E-1421-9382-8BBB-A2F1D71D878D}"/>
              </a:ext>
            </a:extLst>
          </p:cNvPr>
          <p:cNvGrpSpPr/>
          <p:nvPr/>
        </p:nvGrpSpPr>
        <p:grpSpPr>
          <a:xfrm>
            <a:off x="548640" y="2103120"/>
            <a:ext cx="3520440" cy="4023360"/>
            <a:chOff x="548640" y="2103120"/>
            <a:chExt cx="3520440" cy="4023360"/>
          </a:xfrm>
        </p:grpSpPr>
        <p:sp>
          <p:nvSpPr>
            <p:cNvPr id="5" name="Shape 3"/>
            <p:cNvSpPr/>
            <p:nvPr/>
          </p:nvSpPr>
          <p:spPr>
            <a:xfrm>
              <a:off x="548640" y="2103120"/>
              <a:ext cx="3520440" cy="4023360"/>
            </a:xfrm>
            <a:prstGeom prst="rect">
              <a:avLst/>
            </a:prstGeom>
            <a:solidFill>
              <a:srgbClr val="131A24"/>
            </a:solidFill>
            <a:ln w="12700">
              <a:solidFill>
                <a:srgbClr val="2A3343"/>
              </a:solidFill>
              <a:prstDash val="solid"/>
            </a:ln>
            <a:effectLst>
              <a:outerShdw blurRad="114300" dist="38100" dir="81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804672" y="2331720"/>
              <a:ext cx="512064" cy="512064"/>
            </a:xfrm>
            <a:prstGeom prst="ellipse">
              <a:avLst/>
            </a:prstGeom>
            <a:solidFill>
              <a:srgbClr val="1C1320"/>
            </a:solidFill>
            <a:ln/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441448"/>
              <a:ext cx="292608" cy="292608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804672" y="2971800"/>
              <a:ext cx="30632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 · ACL not enforcing</a:t>
              </a:r>
              <a:endParaRPr lang="en-US" sz="15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804672" y="3520440"/>
              <a:ext cx="310896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97A3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Both developer AND attacker got in. Cause: the new tailnet's default '*→*' allow-all rule was still present alongside the policy.</a:t>
              </a:r>
              <a:endParaRPr lang="en-US" sz="11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04672" y="5138928"/>
              <a:ext cx="3108960" cy="841248"/>
            </a:xfrm>
            <a:prstGeom prst="rect">
              <a:avLst/>
            </a:prstGeom>
            <a:solidFill>
              <a:srgbClr val="0E1B14"/>
            </a:solidFill>
            <a:ln w="12700">
              <a:solidFill>
                <a:srgbClr val="1E3A2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932688" y="5212080"/>
              <a:ext cx="288036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6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Fix: replace the entire ACL — one tag:client→tag:backend rule, no wildcard.</a:t>
              </a: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7389FF-2279-AEDA-F321-5CD5CEC3F103}"/>
              </a:ext>
            </a:extLst>
          </p:cNvPr>
          <p:cNvGrpSpPr/>
          <p:nvPr/>
        </p:nvGrpSpPr>
        <p:grpSpPr>
          <a:xfrm>
            <a:off x="4315968" y="2103120"/>
            <a:ext cx="3520440" cy="4023360"/>
            <a:chOff x="4315968" y="2103120"/>
            <a:chExt cx="3520440" cy="4023360"/>
          </a:xfrm>
        </p:grpSpPr>
        <p:sp>
          <p:nvSpPr>
            <p:cNvPr id="12" name="Shape 9"/>
            <p:cNvSpPr/>
            <p:nvPr/>
          </p:nvSpPr>
          <p:spPr>
            <a:xfrm>
              <a:off x="4315968" y="2103120"/>
              <a:ext cx="3520440" cy="4023360"/>
            </a:xfrm>
            <a:prstGeom prst="rect">
              <a:avLst/>
            </a:prstGeom>
            <a:solidFill>
              <a:srgbClr val="131A24"/>
            </a:solidFill>
            <a:ln w="12700">
              <a:solidFill>
                <a:srgbClr val="2A3343"/>
              </a:solidFill>
              <a:prstDash val="solid"/>
            </a:ln>
            <a:effectLst>
              <a:outerShdw blurRad="114300" dist="38100" dir="81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3" name="Shape 10"/>
            <p:cNvSpPr/>
            <p:nvPr/>
          </p:nvSpPr>
          <p:spPr>
            <a:xfrm>
              <a:off x="4572000" y="2331720"/>
              <a:ext cx="512064" cy="512064"/>
            </a:xfrm>
            <a:prstGeom prst="ellipse">
              <a:avLst/>
            </a:prstGeom>
            <a:solidFill>
              <a:srgbClr val="1C1320"/>
            </a:solidFill>
            <a:ln/>
          </p:spPr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728" y="2441448"/>
              <a:ext cx="292608" cy="292608"/>
            </a:xfrm>
            <a:prstGeom prst="rect">
              <a:avLst/>
            </a:prstGeom>
          </p:spPr>
        </p:pic>
        <p:sp>
          <p:nvSpPr>
            <p:cNvPr id="15" name="Text 11"/>
            <p:cNvSpPr/>
            <p:nvPr/>
          </p:nvSpPr>
          <p:spPr>
            <a:xfrm>
              <a:off x="4572000" y="2971800"/>
              <a:ext cx="30632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 · Wrong wire</a:t>
              </a:r>
              <a:endParaRPr lang="en-US" sz="15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4572000" y="3520440"/>
              <a:ext cx="310896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97A3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Attacker still got in after the ACL fix. The nodes shared a Docker bridge; the test hit the service by Docker hostname, bypassing the tailnet entirely.</a:t>
              </a:r>
              <a:endParaRPr lang="en-US" sz="115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4572000" y="5138928"/>
              <a:ext cx="3108960" cy="841248"/>
            </a:xfrm>
            <a:prstGeom prst="rect">
              <a:avLst/>
            </a:prstGeom>
            <a:solidFill>
              <a:srgbClr val="0E1B14"/>
            </a:solidFill>
            <a:ln w="12700">
              <a:solidFill>
                <a:srgbClr val="1E3A2C"/>
              </a:solidFill>
              <a:prstDash val="solid"/>
            </a:ln>
          </p:spPr>
        </p:sp>
        <p:sp>
          <p:nvSpPr>
            <p:cNvPr id="18" name="Text 14"/>
            <p:cNvSpPr/>
            <p:nvPr/>
          </p:nvSpPr>
          <p:spPr>
            <a:xfrm>
              <a:off x="4700016" y="5212080"/>
              <a:ext cx="288036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6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Fix: isolate each node on its own network; test against the backend's Tailscale IP.</a:t>
              </a:r>
              <a:endParaRPr lang="en-US" sz="11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736032-A961-AFB6-62C7-0CB82BA6AC25}"/>
              </a:ext>
            </a:extLst>
          </p:cNvPr>
          <p:cNvGrpSpPr/>
          <p:nvPr/>
        </p:nvGrpSpPr>
        <p:grpSpPr>
          <a:xfrm>
            <a:off x="8083296" y="2103120"/>
            <a:ext cx="3520440" cy="4023360"/>
            <a:chOff x="8083296" y="2103120"/>
            <a:chExt cx="3520440" cy="4023360"/>
          </a:xfrm>
        </p:grpSpPr>
        <p:sp>
          <p:nvSpPr>
            <p:cNvPr id="19" name="Shape 15"/>
            <p:cNvSpPr/>
            <p:nvPr/>
          </p:nvSpPr>
          <p:spPr>
            <a:xfrm>
              <a:off x="8083296" y="2103120"/>
              <a:ext cx="3520440" cy="4023360"/>
            </a:xfrm>
            <a:prstGeom prst="rect">
              <a:avLst/>
            </a:prstGeom>
            <a:solidFill>
              <a:srgbClr val="131A24"/>
            </a:solidFill>
            <a:ln w="12700">
              <a:solidFill>
                <a:srgbClr val="2A3343"/>
              </a:solidFill>
              <a:prstDash val="solid"/>
            </a:ln>
            <a:effectLst>
              <a:outerShdw blurRad="114300" dist="38100" dir="81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0" name="Shape 16"/>
            <p:cNvSpPr/>
            <p:nvPr/>
          </p:nvSpPr>
          <p:spPr>
            <a:xfrm>
              <a:off x="8339328" y="2331720"/>
              <a:ext cx="512064" cy="512064"/>
            </a:xfrm>
            <a:prstGeom prst="ellipse">
              <a:avLst/>
            </a:prstGeom>
            <a:solidFill>
              <a:srgbClr val="1C1320"/>
            </a:solidFill>
            <a:ln/>
          </p:spPr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49056" y="2441448"/>
              <a:ext cx="292608" cy="292608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8339328" y="2971800"/>
              <a:ext cx="30632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 · Key expiration</a:t>
              </a:r>
              <a:endParaRPr lang="en-US" sz="15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8339328" y="3520440"/>
              <a:ext cx="3108960" cy="1554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dirty="0">
                  <a:solidFill>
                    <a:srgbClr val="97A3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project’s original auth-key expired mid-development.</a:t>
              </a:r>
              <a:endParaRPr lang="en-US" sz="1150" dirty="0"/>
            </a:p>
          </p:txBody>
        </p:sp>
        <p:sp>
          <p:nvSpPr>
            <p:cNvPr id="24" name="Shape 19"/>
            <p:cNvSpPr/>
            <p:nvPr/>
          </p:nvSpPr>
          <p:spPr>
            <a:xfrm>
              <a:off x="8339328" y="5138928"/>
              <a:ext cx="3108960" cy="841248"/>
            </a:xfrm>
            <a:prstGeom prst="rect">
              <a:avLst/>
            </a:prstGeom>
            <a:solidFill>
              <a:srgbClr val="0E1B14"/>
            </a:solidFill>
            <a:ln w="12700">
              <a:solidFill>
                <a:srgbClr val="1E3A2C"/>
              </a:solidFill>
              <a:prstDash val="solid"/>
            </a:ln>
          </p:spPr>
        </p:sp>
        <p:sp>
          <p:nvSpPr>
            <p:cNvPr id="25" name="Text 20"/>
            <p:cNvSpPr/>
            <p:nvPr/>
          </p:nvSpPr>
          <p:spPr>
            <a:xfrm>
              <a:off x="8467344" y="5212080"/>
              <a:ext cx="288036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6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Fix: Generate new key and add to .env</a:t>
              </a:r>
              <a:endParaRPr lang="en-US" sz="11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5EA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Tailscale vs traditional approaches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0233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/ risk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solution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8308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IP/port allowlist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78308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surface; brittle, leaky IP lists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0" y="17830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port at 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841248"/>
          </a:xfrm>
          <a:prstGeom prst="rect">
            <a:avLst/>
          </a:prstGeom>
          <a:solidFill>
            <a:srgbClr val="ECF1F8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74320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Bastion / jump host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4320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to patch; key sprawl; lateral-movement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274320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bastion; identity is the perimeter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0332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VPN concentrator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70332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choke point; hair-pin latency; coarse access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37033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WireGuard mesh; per-service ACLs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841248"/>
          </a:xfrm>
          <a:prstGeom prst="rect">
            <a:avLst/>
          </a:prstGeom>
          <a:solidFill>
            <a:srgbClr val="ECF1F8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66344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-L port-forwarding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6634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unaudited, easy to leave open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0" y="46634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SSH: keyless, ACL-gated, logged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" y="502920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621792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740664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A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 security, faster access, cost savings.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3520440" cy="2423160"/>
          </a:xfrm>
          <a:prstGeom prst="rect">
            <a:avLst/>
          </a:prstGeom>
          <a:solidFill>
            <a:srgbClr val="131A24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121408"/>
            <a:ext cx="603504" cy="603504"/>
          </a:xfrm>
          <a:prstGeom prst="ellipse">
            <a:avLst/>
          </a:prstGeom>
          <a:solidFill>
            <a:srgbClr val="0E1B2A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49424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2852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posture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296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attack surface. Identity + tag rules instead of error-prone IP lists. 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15968" y="1874520"/>
            <a:ext cx="3520440" cy="2423160"/>
          </a:xfrm>
          <a:prstGeom prst="rect">
            <a:avLst/>
          </a:prstGeom>
          <a:solidFill>
            <a:srgbClr val="131A24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90288" y="2121408"/>
            <a:ext cx="603504" cy="603504"/>
          </a:xfrm>
          <a:prstGeom prst="ellipse">
            <a:avLst/>
          </a:prstGeom>
          <a:solidFill>
            <a:srgbClr val="0E1B2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24942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90288" y="2852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velocity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4590288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 minutes.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083296" y="1874520"/>
            <a:ext cx="3520440" cy="2423160"/>
          </a:xfrm>
          <a:prstGeom prst="rect">
            <a:avLst/>
          </a:prstGeom>
          <a:solidFill>
            <a:srgbClr val="131A24"/>
          </a:solidFill>
          <a:ln w="12700">
            <a:solidFill>
              <a:srgbClr val="2A3343"/>
            </a:solidFill>
            <a:prstDash val="solid"/>
          </a:ln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57616" y="2121408"/>
            <a:ext cx="603504" cy="603504"/>
          </a:xfrm>
          <a:prstGeom prst="ellipse">
            <a:avLst/>
          </a:prstGeom>
          <a:solidFill>
            <a:srgbClr val="0E1B2A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24942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57616" y="2852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to operate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8357616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load-balancers. No VPN concentrator. No bastion. No patches. No key rotation. 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357116" y="484632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812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“The service stops having a public door. Identity decides who gets in — and you can prove the attacker is locked out.”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4922D-E0E9-E3E9-1CAC-7B5E2652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7F28C8-8716-5661-F8DA-9BA2DC9274B6}"/>
              </a:ext>
            </a:extLst>
          </p:cNvPr>
          <p:cNvSpPr/>
          <p:nvPr/>
        </p:nvSpPr>
        <p:spPr>
          <a:xfrm>
            <a:off x="548640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017481-6897-1D3B-7D67-03260B05601C}"/>
              </a:ext>
            </a:extLst>
          </p:cNvPr>
          <p:cNvSpPr/>
          <p:nvPr/>
        </p:nvSpPr>
        <p:spPr>
          <a:xfrm>
            <a:off x="667512" y="502920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9D1A31-E6CF-7D61-F00A-C0668E7974BD}"/>
              </a:ext>
            </a:extLst>
          </p:cNvPr>
          <p:cNvSpPr/>
          <p:nvPr/>
        </p:nvSpPr>
        <p:spPr>
          <a:xfrm>
            <a:off x="786384" y="502920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D08323-D088-D958-893E-E7823C6601C7}"/>
              </a:ext>
            </a:extLst>
          </p:cNvPr>
          <p:cNvSpPr/>
          <p:nvPr/>
        </p:nvSpPr>
        <p:spPr>
          <a:xfrm>
            <a:off x="548640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EE64CD1-D287-7FA0-62A7-9CBCE573BF76}"/>
              </a:ext>
            </a:extLst>
          </p:cNvPr>
          <p:cNvSpPr/>
          <p:nvPr/>
        </p:nvSpPr>
        <p:spPr>
          <a:xfrm>
            <a:off x="667512" y="621792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26E815-2A20-11ED-59C3-405986795D55}"/>
              </a:ext>
            </a:extLst>
          </p:cNvPr>
          <p:cNvSpPr/>
          <p:nvPr/>
        </p:nvSpPr>
        <p:spPr>
          <a:xfrm>
            <a:off x="786384" y="621792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322E9B9-91BD-78A5-2C1D-96FACFF3B903}"/>
              </a:ext>
            </a:extLst>
          </p:cNvPr>
          <p:cNvSpPr/>
          <p:nvPr/>
        </p:nvSpPr>
        <p:spPr>
          <a:xfrm>
            <a:off x="548640" y="740664"/>
            <a:ext cx="64008" cy="6400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9A84680-64E5-7D67-8BB7-7D4AF59F1F38}"/>
              </a:ext>
            </a:extLst>
          </p:cNvPr>
          <p:cNvSpPr/>
          <p:nvPr/>
        </p:nvSpPr>
        <p:spPr>
          <a:xfrm>
            <a:off x="667512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7D42497-0672-9ED4-0F61-A1B9E87ED786}"/>
              </a:ext>
            </a:extLst>
          </p:cNvPr>
          <p:cNvSpPr/>
          <p:nvPr/>
        </p:nvSpPr>
        <p:spPr>
          <a:xfrm>
            <a:off x="786384" y="740664"/>
            <a:ext cx="64008" cy="64008"/>
          </a:xfrm>
          <a:prstGeom prst="ellipse">
            <a:avLst/>
          </a:prstGeom>
          <a:solidFill>
            <a:srgbClr val="5EA9FF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3C0DD5-CF8C-2E48-2230-52A6AF973FA4}"/>
              </a:ext>
            </a:extLst>
          </p:cNvPr>
          <p:cNvSpPr/>
          <p:nvPr/>
        </p:nvSpPr>
        <p:spPr>
          <a:xfrm>
            <a:off x="976022" y="424401"/>
            <a:ext cx="8595360" cy="52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cap="small" dirty="0">
                <a:solidFill>
                  <a:schemeClr val="bg1"/>
                </a:solidFill>
              </a:rPr>
              <a:t>Why Marc is a great choice to work at </a:t>
            </a:r>
            <a:r>
              <a:rPr lang="en-US" sz="3300" cap="small" dirty="0" err="1">
                <a:solidFill>
                  <a:schemeClr val="bg1"/>
                </a:solidFill>
              </a:rPr>
              <a:t>Tailscale</a:t>
            </a:r>
            <a:endParaRPr lang="en-US" sz="3000" dirty="0">
              <a:solidFill>
                <a:schemeClr val="bg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E0E509-C3ED-7C2F-BABD-BD8807FBCF91}"/>
              </a:ext>
            </a:extLst>
          </p:cNvPr>
          <p:cNvGrpSpPr/>
          <p:nvPr/>
        </p:nvGrpSpPr>
        <p:grpSpPr>
          <a:xfrm>
            <a:off x="548640" y="1184978"/>
            <a:ext cx="11055096" cy="1207559"/>
            <a:chOff x="548640" y="1437419"/>
            <a:chExt cx="11055096" cy="1207559"/>
          </a:xfrm>
        </p:grpSpPr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D3F006D5-0E90-A4BF-17DF-31A3F482FBB2}"/>
                </a:ext>
              </a:extLst>
            </p:cNvPr>
            <p:cNvSpPr/>
            <p:nvPr/>
          </p:nvSpPr>
          <p:spPr>
            <a:xfrm>
              <a:off x="548640" y="1437419"/>
              <a:ext cx="11055096" cy="788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accent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Multiple successful stints at start-ups leading the SE org</a:t>
              </a:r>
            </a:p>
            <a:p>
              <a:pPr marL="0" indent="0">
                <a:buNone/>
              </a:pPr>
              <a:endPara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17" name="Picture 16" descr="Microsoft Acquires Metaswitch | TalkingPointz">
              <a:extLst>
                <a:ext uri="{FF2B5EF4-FFF2-40B4-BE49-F238E27FC236}">
                  <a16:creationId xmlns:a16="http://schemas.microsoft.com/office/drawing/2014/main" id="{F08889B2-5F56-9A05-0FA5-F65EE77D7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392" y="2071573"/>
              <a:ext cx="2030373" cy="476696"/>
            </a:xfrm>
            <a:prstGeom prst="rect">
              <a:avLst/>
            </a:prstGeom>
          </p:spPr>
        </p:pic>
        <p:pic>
          <p:nvPicPr>
            <p:cNvPr id="18" name="Picture 17" descr="Cisco Logo and symbol, meaning, history, PNG, brand">
              <a:extLst>
                <a:ext uri="{FF2B5EF4-FFF2-40B4-BE49-F238E27FC236}">
                  <a16:creationId xmlns:a16="http://schemas.microsoft.com/office/drawing/2014/main" id="{DA7091A3-A81C-6ECC-8444-C1117343D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15528" y="2029902"/>
              <a:ext cx="1065227" cy="611786"/>
            </a:xfrm>
            <a:prstGeom prst="rect">
              <a:avLst/>
            </a:prstGeom>
          </p:spPr>
        </p:pic>
        <p:pic>
          <p:nvPicPr>
            <p:cNvPr id="19" name="Picture 18" descr="Trademark and Brand Guidelines | Microsoft Legal">
              <a:extLst>
                <a:ext uri="{FF2B5EF4-FFF2-40B4-BE49-F238E27FC236}">
                  <a16:creationId xmlns:a16="http://schemas.microsoft.com/office/drawing/2014/main" id="{FF202B8A-B906-DD08-FCD3-BFF5559A8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82033" y="2037295"/>
              <a:ext cx="971624" cy="547761"/>
            </a:xfrm>
            <a:prstGeom prst="rect">
              <a:avLst/>
            </a:prstGeom>
          </p:spPr>
        </p:pic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06A8D7DA-1027-0AE3-9578-221881357108}"/>
                </a:ext>
              </a:extLst>
            </p:cNvPr>
            <p:cNvSpPr/>
            <p:nvPr/>
          </p:nvSpPr>
          <p:spPr>
            <a:xfrm>
              <a:off x="2912914" y="2166724"/>
              <a:ext cx="436970" cy="2863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 descr="BSO Drives International Network Performance with Accedian">
              <a:extLst>
                <a:ext uri="{FF2B5EF4-FFF2-40B4-BE49-F238E27FC236}">
                  <a16:creationId xmlns:a16="http://schemas.microsoft.com/office/drawing/2014/main" id="{97F9390D-844F-136C-7646-416A369BC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5444" y="2033191"/>
              <a:ext cx="1397189" cy="611787"/>
            </a:xfrm>
            <a:prstGeom prst="rect">
              <a:avLst/>
            </a:prstGeom>
          </p:spPr>
        </p:pic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0D1091D1-287C-33A0-44AB-96446225A0C3}"/>
                </a:ext>
              </a:extLst>
            </p:cNvPr>
            <p:cNvSpPr/>
            <p:nvPr/>
          </p:nvSpPr>
          <p:spPr>
            <a:xfrm>
              <a:off x="6954431" y="2196534"/>
              <a:ext cx="436970" cy="2863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C320E5-6DD9-7CA1-F499-2839CB4C6157}"/>
              </a:ext>
            </a:extLst>
          </p:cNvPr>
          <p:cNvGrpSpPr/>
          <p:nvPr/>
        </p:nvGrpSpPr>
        <p:grpSpPr>
          <a:xfrm>
            <a:off x="548640" y="2573778"/>
            <a:ext cx="11055096" cy="1429081"/>
            <a:chOff x="548640" y="3346892"/>
            <a:chExt cx="11055096" cy="1429081"/>
          </a:xfrm>
        </p:grpSpPr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9A0DBD73-ADEE-5207-24EC-5642FB81F344}"/>
                </a:ext>
              </a:extLst>
            </p:cNvPr>
            <p:cNvSpPr/>
            <p:nvPr/>
          </p:nvSpPr>
          <p:spPr>
            <a:xfrm>
              <a:off x="548640" y="3346892"/>
              <a:ext cx="11055096" cy="9527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accent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networking knowledge and a constant, proven ability to learn new technologies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endPara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23" name="Picture 22" descr="AWS Certified Cloud Practitioner - Credly">
              <a:extLst>
                <a:ext uri="{FF2B5EF4-FFF2-40B4-BE49-F238E27FC236}">
                  <a16:creationId xmlns:a16="http://schemas.microsoft.com/office/drawing/2014/main" id="{469C12B2-416D-255B-46FC-E23B3A4D7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50133" y="3823252"/>
              <a:ext cx="906055" cy="906055"/>
            </a:xfrm>
            <a:prstGeom prst="rect">
              <a:avLst/>
            </a:prstGeom>
          </p:spPr>
        </p:pic>
        <p:pic>
          <p:nvPicPr>
            <p:cNvPr id="25" name="Picture 24" descr="Microsoft Certified: Azure Fundamentals badge image. Issued by Microsoft">
              <a:extLst>
                <a:ext uri="{FF2B5EF4-FFF2-40B4-BE49-F238E27FC236}">
                  <a16:creationId xmlns:a16="http://schemas.microsoft.com/office/drawing/2014/main" id="{A3A592F4-97D3-F95F-B1C3-2BF3A2E1A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2403" y="3823253"/>
              <a:ext cx="952720" cy="952720"/>
            </a:xfrm>
            <a:prstGeom prst="rect">
              <a:avLst/>
            </a:prstGeom>
          </p:spPr>
        </p:pic>
        <p:pic>
          <p:nvPicPr>
            <p:cNvPr id="26" name="Picture 25" descr="MEF – Lumious">
              <a:extLst>
                <a:ext uri="{FF2B5EF4-FFF2-40B4-BE49-F238E27FC236}">
                  <a16:creationId xmlns:a16="http://schemas.microsoft.com/office/drawing/2014/main" id="{F469C084-ADA6-B767-E430-EBC5A07A5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56866" y="3876229"/>
              <a:ext cx="2540000" cy="8001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E5BC18-CF8A-B96C-3DA8-D7FD127DD012}"/>
              </a:ext>
            </a:extLst>
          </p:cNvPr>
          <p:cNvGrpSpPr/>
          <p:nvPr/>
        </p:nvGrpSpPr>
        <p:grpSpPr>
          <a:xfrm>
            <a:off x="548640" y="4107979"/>
            <a:ext cx="11055096" cy="3556110"/>
            <a:chOff x="548640" y="4107979"/>
            <a:chExt cx="11055096" cy="3556110"/>
          </a:xfrm>
        </p:grpSpPr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C1693182-3B09-D44A-2AF7-31F683CCFFAE}"/>
                </a:ext>
              </a:extLst>
            </p:cNvPr>
            <p:cNvSpPr/>
            <p:nvPr/>
          </p:nvSpPr>
          <p:spPr>
            <a:xfrm>
              <a:off x="548640" y="4107979"/>
              <a:ext cx="11055096" cy="10561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accent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 have been a believer in </a:t>
              </a:r>
              <a:r>
                <a:rPr lang="en-US" sz="2000" dirty="0" err="1">
                  <a:solidFill>
                    <a:schemeClr val="accent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Tailscale</a:t>
              </a:r>
              <a:r>
                <a:rPr lang="en-US" sz="2000" dirty="0">
                  <a:solidFill>
                    <a:schemeClr val="accent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as a product before even beginning this interview process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endParaRPr lang="en-US" sz="2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3D28029-E172-046C-7A9D-EA4CBEA3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96741" y="4584339"/>
              <a:ext cx="4851400" cy="3079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921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1947</Words>
  <Application>Microsoft Macintosh PowerPoint</Application>
  <PresentationFormat>Widescreen</PresentationFormat>
  <Paragraphs>229</Paragraphs>
  <Slides>13</Slides>
  <Notes>13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Remote Developer — Tailscale</dc:title>
  <dc:subject/>
  <dc:creator>Marc Matthews</dc:creator>
  <cp:keywords/>
  <dc:description/>
  <cp:lastModifiedBy>Microsoft Office User</cp:lastModifiedBy>
  <cp:revision>15</cp:revision>
  <dcterms:created xsi:type="dcterms:W3CDTF">2026-05-29T00:24:41Z</dcterms:created>
  <dcterms:modified xsi:type="dcterms:W3CDTF">2026-06-07T21:21:49Z</dcterms:modified>
  <cp:category/>
</cp:coreProperties>
</file>